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37465" y="285750"/>
            <a:ext cx="166907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SOCify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1645323" y="1200150"/>
            <a:ext cx="585332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Operations Center Simulation Platform</a:t>
            </a:r>
            <a:endParaRPr lang="en-US" sz="20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300288"/>
            <a:ext cx="1671638" cy="107156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688" y="2300288"/>
            <a:ext cx="1071563" cy="1071563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Team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957263"/>
            <a:ext cx="4214813" cy="6572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957263"/>
            <a:ext cx="28575" cy="65722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106441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Mohammed Hassan Nasser Al-Qarni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392906" y="1314450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443802576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643438" y="957263"/>
            <a:ext cx="4214813" cy="6572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43438" y="957263"/>
            <a:ext cx="28575" cy="65722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10" name="Text 7"/>
          <p:cNvSpPr/>
          <p:nvPr/>
        </p:nvSpPr>
        <p:spPr>
          <a:xfrm>
            <a:off x="4750594" y="106441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Mohammed Saeed Mohammed Al-Shahrani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4750594" y="1314450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443802564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285750" y="1757363"/>
            <a:ext cx="4214813" cy="6572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1757363"/>
            <a:ext cx="28575" cy="65722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14" name="Text 11"/>
          <p:cNvSpPr/>
          <p:nvPr/>
        </p:nvSpPr>
        <p:spPr>
          <a:xfrm>
            <a:off x="392906" y="186451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Abdulkarim Mohammed Saleh Al-Khathami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392906" y="2114550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443802555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643438" y="1757363"/>
            <a:ext cx="4214813" cy="6572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43438" y="1757363"/>
            <a:ext cx="28575" cy="65722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18" name="Text 15"/>
          <p:cNvSpPr/>
          <p:nvPr/>
        </p:nvSpPr>
        <p:spPr>
          <a:xfrm>
            <a:off x="4750594" y="186451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Saleh Ahmed Ahmed Al-Habi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4750594" y="2114550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442804637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285750" y="2557463"/>
            <a:ext cx="4214813" cy="6572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85750" y="2557463"/>
            <a:ext cx="28575" cy="65722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22" name="Text 19"/>
          <p:cNvSpPr/>
          <p:nvPr/>
        </p:nvSpPr>
        <p:spPr>
          <a:xfrm>
            <a:off x="392906" y="266461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Abdulkarim Mohammed Tami Al-Shahrani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392906" y="2914650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443802562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4643438" y="2557463"/>
            <a:ext cx="4214813" cy="6572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643438" y="2557463"/>
            <a:ext cx="28575" cy="65722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26" name="Text 23"/>
          <p:cNvSpPr/>
          <p:nvPr/>
        </p:nvSpPr>
        <p:spPr>
          <a:xfrm>
            <a:off x="4750594" y="266461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Rayyan Dhaifallah Shukri Al-Omari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4750594" y="2914650"/>
            <a:ext cx="4000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443802570</a:t>
            </a:r>
            <a:endParaRPr lang="en-US" sz="942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504147" y="4572000"/>
            <a:ext cx="1496978" cy="428625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Overview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73336"/>
            <a:ext cx="4463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SOCify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732095" y="973336"/>
            <a:ext cx="35748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 a comprehensive Security Operations Center (SOC)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1201936"/>
            <a:ext cx="4065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simulation platform designed to address the critical need for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85750" y="1430536"/>
            <a:ext cx="30998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practical cybersecurity education and training.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1785938"/>
            <a:ext cx="41790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platform simulates authentic SOC operations through a web-based application built using Python Flask framework and SQLite database, providing a realistic environment for students and professionals to practice incident response, threat analysis, and security monitoring without the risks associated with live systems. </a:t>
            </a:r>
            <a:endParaRPr lang="en-US" sz="1046" dirty="0"/>
          </a:p>
        </p:txBody>
      </p:sp>
      <p:sp>
        <p:nvSpPr>
          <p:cNvPr id="9" name="Shape 6"/>
          <p:cNvSpPr/>
          <p:nvPr/>
        </p:nvSpPr>
        <p:spPr>
          <a:xfrm>
            <a:off x="285750" y="3300413"/>
            <a:ext cx="4179094" cy="1100138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" y="3300413"/>
            <a:ext cx="28575" cy="1100138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11" name="Text 8"/>
          <p:cNvSpPr/>
          <p:nvPr/>
        </p:nvSpPr>
        <p:spPr>
          <a:xfrm>
            <a:off x="392906" y="3407569"/>
            <a:ext cx="39647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Statement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392906" y="3714750"/>
            <a:ext cx="39647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Traditional cybersecurity education often lacks hands-on experience with real-world security scenarios, creating a gap between academic learning and industry requirements. </a:t>
            </a:r>
            <a:endParaRPr lang="en-US" sz="942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56" y="1695748"/>
            <a:ext cx="4179094" cy="1966317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715375" y="4714875"/>
            <a:ext cx="285750" cy="2857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Objectives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00012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638" y="957263"/>
            <a:ext cx="1583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Primary Objectives 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1357313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2931" y="1321594"/>
            <a:ext cx="37745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and develop a comprehensive SOC simulation platform</a:t>
            </a:r>
            <a:endParaRPr lang="en-US" sz="942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635919"/>
            <a:ext cx="128588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2931" y="1600200"/>
            <a:ext cx="38642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realistic security event monitoring and management</a:t>
            </a:r>
            <a:endParaRPr lang="en-US" sz="942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1914525"/>
            <a:ext cx="128588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92931" y="1878806"/>
            <a:ext cx="284410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interactive attack simulation capabilities</a:t>
            </a:r>
            <a:endParaRPr lang="en-US" sz="942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193131"/>
            <a:ext cx="128588" cy="12858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92931" y="2157413"/>
            <a:ext cx="27686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 multi-role user management system</a:t>
            </a:r>
            <a:endParaRPr lang="en-US" sz="942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471738"/>
            <a:ext cx="128588" cy="12858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92931" y="2436019"/>
            <a:ext cx="33008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 comprehensive audit and logging functionality</a:t>
            </a:r>
            <a:endParaRPr lang="en-US" sz="942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2850356"/>
            <a:ext cx="192881" cy="17145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50069" y="2807494"/>
            <a:ext cx="17904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Secondary Objectives </a:t>
            </a:r>
            <a:endParaRPr lang="en-US" sz="135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" y="3207544"/>
            <a:ext cx="128588" cy="12858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92931" y="3171825"/>
            <a:ext cx="29513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Evaluate the platform's educational effectiveness</a:t>
            </a:r>
            <a:endParaRPr lang="en-US" sz="942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" y="3486150"/>
            <a:ext cx="128588" cy="12858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92931" y="3450431"/>
            <a:ext cx="291612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 scalability and performance optimization</a:t>
            </a:r>
            <a:endParaRPr lang="en-US" sz="942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906" y="3764756"/>
            <a:ext cx="128588" cy="128588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92931" y="3729038"/>
            <a:ext cx="266152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responsive user interface design</a:t>
            </a:r>
            <a:endParaRPr lang="en-US" sz="942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9343" y="1100138"/>
            <a:ext cx="3598720" cy="2857472"/>
          </a:xfrm>
          <a:prstGeom prst="rect">
            <a:avLst/>
          </a:prstGeom>
        </p:spPr>
      </p:pic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8715375" y="4714875"/>
            <a:ext cx="285750" cy="285750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57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957263"/>
            <a:ext cx="2018109" cy="140017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957263"/>
            <a:ext cx="28575" cy="1400175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207294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1064419"/>
            <a:ext cx="155376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Multi-Role User Management 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392906" y="1564481"/>
            <a:ext cx="18037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Simulates real SOC hierarchies with Analyst, SOC Manager, and System Administrator roles with appropriate permissions. 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2446734" y="957263"/>
            <a:ext cx="2018109" cy="140017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446734" y="957263"/>
            <a:ext cx="28575" cy="1400175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891" y="1207294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68203" y="1064419"/>
            <a:ext cx="15894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Real-time Security Monitoring </a:t>
            </a:r>
            <a:endParaRPr lang="en-US" sz="1046" dirty="0"/>
          </a:p>
        </p:txBody>
      </p:sp>
      <p:sp>
        <p:nvSpPr>
          <p:cNvPr id="13" name="Text 8"/>
          <p:cNvSpPr/>
          <p:nvPr/>
        </p:nvSpPr>
        <p:spPr>
          <a:xfrm>
            <a:off x="2553891" y="1564481"/>
            <a:ext cx="18037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Live monitoring of security events with comprehensive filtering, sorting, and visualization capabilities. </a:t>
            </a:r>
            <a:endParaRPr lang="en-US" sz="837" dirty="0"/>
          </a:p>
        </p:txBody>
      </p:sp>
      <p:sp>
        <p:nvSpPr>
          <p:cNvPr id="14" name="Shape 9"/>
          <p:cNvSpPr/>
          <p:nvPr/>
        </p:nvSpPr>
        <p:spPr>
          <a:xfrm>
            <a:off x="285750" y="2500313"/>
            <a:ext cx="2018109" cy="140017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285750" y="2500313"/>
            <a:ext cx="28575" cy="1400175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2643188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219" y="2607469"/>
            <a:ext cx="131118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Attack Simulations </a:t>
            </a:r>
            <a:endParaRPr lang="en-US" sz="1046" dirty="0"/>
          </a:p>
        </p:txBody>
      </p:sp>
      <p:sp>
        <p:nvSpPr>
          <p:cNvPr id="18" name="Text 12"/>
          <p:cNvSpPr/>
          <p:nvPr/>
        </p:nvSpPr>
        <p:spPr>
          <a:xfrm>
            <a:off x="392906" y="2893219"/>
            <a:ext cx="180379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Interactive simulations covering SQL injection, DDoS attacks, cross-site scripting, brute force attacks, and other common vulnerabilities. </a:t>
            </a:r>
            <a:endParaRPr lang="en-US" sz="837" dirty="0"/>
          </a:p>
        </p:txBody>
      </p:sp>
      <p:sp>
        <p:nvSpPr>
          <p:cNvPr id="19" name="Shape 13"/>
          <p:cNvSpPr/>
          <p:nvPr/>
        </p:nvSpPr>
        <p:spPr>
          <a:xfrm>
            <a:off x="2446734" y="2500313"/>
            <a:ext cx="2018109" cy="140017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2446734" y="2500313"/>
            <a:ext cx="28575" cy="1400175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891" y="2750344"/>
            <a:ext cx="178594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803922" y="2607469"/>
            <a:ext cx="155376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Automated Threat Detection </a:t>
            </a:r>
            <a:endParaRPr lang="en-US" sz="1046" dirty="0"/>
          </a:p>
        </p:txBody>
      </p:sp>
      <p:sp>
        <p:nvSpPr>
          <p:cNvPr id="23" name="Text 16"/>
          <p:cNvSpPr/>
          <p:nvPr/>
        </p:nvSpPr>
        <p:spPr>
          <a:xfrm>
            <a:off x="2553891" y="3107531"/>
            <a:ext cx="18037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Rule-based detection system that automatically identifies and categorizes potential security threats.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285750" y="4043363"/>
            <a:ext cx="2018109" cy="12287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285750" y="4043363"/>
            <a:ext cx="28575" cy="1228725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4293394"/>
            <a:ext cx="107156" cy="1428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71500" y="4150519"/>
            <a:ext cx="16252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Comprehensive Audit Logging </a:t>
            </a:r>
            <a:endParaRPr lang="en-US" sz="1046" dirty="0"/>
          </a:p>
        </p:txBody>
      </p:sp>
      <p:sp>
        <p:nvSpPr>
          <p:cNvPr id="28" name="Text 20"/>
          <p:cNvSpPr/>
          <p:nvPr/>
        </p:nvSpPr>
        <p:spPr>
          <a:xfrm>
            <a:off x="392906" y="4650581"/>
            <a:ext cx="180379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Detailed logging of all system activities for review, analysis, and compliance purposes. </a:t>
            </a:r>
            <a:endParaRPr lang="en-US" sz="837" dirty="0"/>
          </a:p>
        </p:txBody>
      </p:sp>
      <p:sp>
        <p:nvSpPr>
          <p:cNvPr id="29" name="Shape 21"/>
          <p:cNvSpPr/>
          <p:nvPr/>
        </p:nvSpPr>
        <p:spPr>
          <a:xfrm>
            <a:off x="2446734" y="4043363"/>
            <a:ext cx="2018109" cy="1228725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30" name="Shape 22"/>
          <p:cNvSpPr/>
          <p:nvPr/>
        </p:nvSpPr>
        <p:spPr>
          <a:xfrm>
            <a:off x="2446734" y="4043363"/>
            <a:ext cx="28575" cy="1228725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3891" y="4186238"/>
            <a:ext cx="107156" cy="1428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732484" y="4150519"/>
            <a:ext cx="13037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Responsive Design </a:t>
            </a:r>
            <a:endParaRPr lang="en-US" sz="1046" dirty="0"/>
          </a:p>
        </p:txBody>
      </p:sp>
      <p:sp>
        <p:nvSpPr>
          <p:cNvPr id="33" name="Text 24"/>
          <p:cNvSpPr/>
          <p:nvPr/>
        </p:nvSpPr>
        <p:spPr>
          <a:xfrm>
            <a:off x="2553891" y="4436269"/>
            <a:ext cx="18037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Web interface optimized for multiple devices, ensuring accessibility across desktop and mobile platforms. </a:t>
            </a:r>
            <a:endParaRPr lang="en-US" sz="837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156" y="1920162"/>
            <a:ext cx="4179094" cy="2389026"/>
          </a:xfrm>
          <a:prstGeom prst="rect">
            <a:avLst/>
          </a:prstGeom>
        </p:spPr>
      </p:pic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8715375" y="5129213"/>
            <a:ext cx="285750" cy="28575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0" y="5500688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Stack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96553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" y="957263"/>
            <a:ext cx="16997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Backend Technologies </a:t>
            </a:r>
            <a:endParaRPr lang="en-US" sz="1238" dirty="0"/>
          </a:p>
        </p:txBody>
      </p:sp>
      <p:sp>
        <p:nvSpPr>
          <p:cNvPr id="6" name="Shape 2"/>
          <p:cNvSpPr/>
          <p:nvPr/>
        </p:nvSpPr>
        <p:spPr>
          <a:xfrm>
            <a:off x="285750" y="1300163"/>
            <a:ext cx="1321594" cy="757238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8" y="1385888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745" y="1614488"/>
            <a:ext cx="3876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837" dirty="0"/>
          </a:p>
        </p:txBody>
      </p:sp>
      <p:sp>
        <p:nvSpPr>
          <p:cNvPr id="9" name="Text 4"/>
          <p:cNvSpPr/>
          <p:nvPr/>
        </p:nvSpPr>
        <p:spPr>
          <a:xfrm>
            <a:off x="847316" y="1821656"/>
            <a:ext cx="198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3.8+</a:t>
            </a:r>
            <a:endParaRPr lang="en-US" sz="732" dirty="0"/>
          </a:p>
        </p:txBody>
      </p:sp>
      <p:sp>
        <p:nvSpPr>
          <p:cNvPr id="10" name="Shape 5"/>
          <p:cNvSpPr/>
          <p:nvPr/>
        </p:nvSpPr>
        <p:spPr>
          <a:xfrm>
            <a:off x="1714500" y="1300163"/>
            <a:ext cx="1321594" cy="757238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288" y="1385888"/>
            <a:ext cx="150019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237138" y="1614488"/>
            <a:ext cx="276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Flask</a:t>
            </a:r>
            <a:endParaRPr lang="en-US" sz="837" dirty="0"/>
          </a:p>
        </p:txBody>
      </p:sp>
      <p:sp>
        <p:nvSpPr>
          <p:cNvPr id="13" name="Text 7"/>
          <p:cNvSpPr/>
          <p:nvPr/>
        </p:nvSpPr>
        <p:spPr>
          <a:xfrm>
            <a:off x="2262671" y="1821656"/>
            <a:ext cx="2252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2.3.3</a:t>
            </a:r>
            <a:endParaRPr lang="en-US" sz="732" dirty="0"/>
          </a:p>
        </p:txBody>
      </p:sp>
      <p:sp>
        <p:nvSpPr>
          <p:cNvPr id="14" name="Shape 8"/>
          <p:cNvSpPr/>
          <p:nvPr/>
        </p:nvSpPr>
        <p:spPr>
          <a:xfrm>
            <a:off x="3143250" y="1300163"/>
            <a:ext cx="1321594" cy="757238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038" y="1478756"/>
            <a:ext cx="150019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26988" y="1707356"/>
            <a:ext cx="3541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</a:t>
            </a:r>
            <a:endParaRPr lang="en-US" sz="837" dirty="0"/>
          </a:p>
        </p:txBody>
      </p:sp>
      <p:sp>
        <p:nvSpPr>
          <p:cNvPr id="17" name="Shape 10"/>
          <p:cNvSpPr/>
          <p:nvPr/>
        </p:nvSpPr>
        <p:spPr>
          <a:xfrm>
            <a:off x="285750" y="2164556"/>
            <a:ext cx="1321594" cy="571500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8" y="2250281"/>
            <a:ext cx="150019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71358" y="2478881"/>
            <a:ext cx="3503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</a:t>
            </a:r>
            <a:endParaRPr lang="en-US" sz="837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2953941"/>
            <a:ext cx="176808" cy="1571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995" y="2914650"/>
            <a:ext cx="174341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Frontend Technologies </a:t>
            </a:r>
            <a:endParaRPr lang="en-US" sz="1238" dirty="0"/>
          </a:p>
        </p:txBody>
      </p:sp>
      <p:sp>
        <p:nvSpPr>
          <p:cNvPr id="22" name="Shape 13"/>
          <p:cNvSpPr/>
          <p:nvPr/>
        </p:nvSpPr>
        <p:spPr>
          <a:xfrm>
            <a:off x="285750" y="3257550"/>
            <a:ext cx="1321594" cy="757238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253" y="3436144"/>
            <a:ext cx="128588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55814" y="3664744"/>
            <a:ext cx="3814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HTML5</a:t>
            </a:r>
            <a:endParaRPr lang="en-US" sz="837" dirty="0"/>
          </a:p>
        </p:txBody>
      </p:sp>
      <p:sp>
        <p:nvSpPr>
          <p:cNvPr id="25" name="Shape 15"/>
          <p:cNvSpPr/>
          <p:nvPr/>
        </p:nvSpPr>
        <p:spPr>
          <a:xfrm>
            <a:off x="1714500" y="3257550"/>
            <a:ext cx="1321594" cy="757238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1003" y="3436144"/>
            <a:ext cx="128588" cy="17145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2243556" y="3664744"/>
            <a:ext cx="2634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CSS3</a:t>
            </a:r>
            <a:endParaRPr lang="en-US" sz="837" dirty="0"/>
          </a:p>
        </p:txBody>
      </p:sp>
      <p:sp>
        <p:nvSpPr>
          <p:cNvPr id="28" name="Shape 17"/>
          <p:cNvSpPr/>
          <p:nvPr/>
        </p:nvSpPr>
        <p:spPr>
          <a:xfrm>
            <a:off x="3143250" y="3257550"/>
            <a:ext cx="1321594" cy="757238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9038" y="3343275"/>
            <a:ext cx="150019" cy="1714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535207" y="3571875"/>
            <a:ext cx="5376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837" dirty="0"/>
          </a:p>
        </p:txBody>
      </p:sp>
      <p:sp>
        <p:nvSpPr>
          <p:cNvPr id="31" name="Text 19"/>
          <p:cNvSpPr/>
          <p:nvPr/>
        </p:nvSpPr>
        <p:spPr>
          <a:xfrm>
            <a:off x="3691561" y="3779044"/>
            <a:ext cx="224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ES6+</a:t>
            </a:r>
            <a:endParaRPr lang="en-US" sz="732" dirty="0"/>
          </a:p>
        </p:txBody>
      </p:sp>
      <p:sp>
        <p:nvSpPr>
          <p:cNvPr id="32" name="Text 20"/>
          <p:cNvSpPr/>
          <p:nvPr/>
        </p:nvSpPr>
        <p:spPr>
          <a:xfrm>
            <a:off x="4679156" y="957263"/>
            <a:ext cx="4179094" cy="390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837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8715375" y="4714875"/>
            <a:ext cx="285750" cy="285750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2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Architecture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57263"/>
            <a:ext cx="417909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SOCify follows a three-tier architecture design that separates the presentation, business logic, and data access layers for improved maintainability and scalability. 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285750" y="1753009"/>
            <a:ext cx="4179094" cy="1050131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753009"/>
            <a:ext cx="28575" cy="1050131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895884"/>
            <a:ext cx="16073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5078" y="1860166"/>
            <a:ext cx="13201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Presentation Layer 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392906" y="2145916"/>
            <a:ext cx="39647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Handles user interface and interaction, delivering content to users across multiple devices. 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392906" y="2553109"/>
            <a:ext cx="661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Components: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1054094" y="2553109"/>
            <a:ext cx="16657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HTML5, CSS3, JavaScript, Bootstrap 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85750" y="2910297"/>
            <a:ext cx="4179094" cy="1050131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285750" y="2910297"/>
            <a:ext cx="28575" cy="1050131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3053172"/>
            <a:ext cx="178594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938" y="3017453"/>
            <a:ext cx="14414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Business Logic Layer </a:t>
            </a:r>
            <a:endParaRPr lang="en-US" sz="1046" dirty="0"/>
          </a:p>
        </p:txBody>
      </p:sp>
      <p:sp>
        <p:nvSpPr>
          <p:cNvPr id="16" name="Text 11"/>
          <p:cNvSpPr/>
          <p:nvPr/>
        </p:nvSpPr>
        <p:spPr>
          <a:xfrm>
            <a:off x="392906" y="3303203"/>
            <a:ext cx="39647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Processes user requests, implements application logic, and manages security rules. </a:t>
            </a:r>
            <a:endParaRPr lang="en-US" sz="837" dirty="0"/>
          </a:p>
        </p:txBody>
      </p:sp>
      <p:sp>
        <p:nvSpPr>
          <p:cNvPr id="17" name="Text 12"/>
          <p:cNvSpPr/>
          <p:nvPr/>
        </p:nvSpPr>
        <p:spPr>
          <a:xfrm>
            <a:off x="392906" y="3710397"/>
            <a:ext cx="661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Components:</a:t>
            </a:r>
            <a:endParaRPr lang="en-US" sz="732" dirty="0"/>
          </a:p>
        </p:txBody>
      </p:sp>
      <p:sp>
        <p:nvSpPr>
          <p:cNvPr id="18" name="Text 13"/>
          <p:cNvSpPr/>
          <p:nvPr/>
        </p:nvSpPr>
        <p:spPr>
          <a:xfrm>
            <a:off x="1054094" y="3710397"/>
            <a:ext cx="29667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Python Flask, RESTful API, Authentication Services, Rule Engine </a:t>
            </a:r>
            <a:endParaRPr lang="en-US" sz="732" dirty="0"/>
          </a:p>
        </p:txBody>
      </p:sp>
      <p:sp>
        <p:nvSpPr>
          <p:cNvPr id="19" name="Shape 14"/>
          <p:cNvSpPr/>
          <p:nvPr/>
        </p:nvSpPr>
        <p:spPr>
          <a:xfrm>
            <a:off x="285750" y="4067584"/>
            <a:ext cx="4179094" cy="878681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285750" y="4067584"/>
            <a:ext cx="28575" cy="878681"/>
          </a:xfrm>
          <a:prstGeom prst="rect">
            <a:avLst/>
          </a:prstGeom>
          <a:solidFill>
            <a:srgbClr val="00B8D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4210459"/>
            <a:ext cx="125016" cy="1428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9359" y="4174741"/>
            <a:ext cx="12540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Data Access Layer </a:t>
            </a:r>
            <a:endParaRPr lang="en-US" sz="1046" dirty="0"/>
          </a:p>
        </p:txBody>
      </p:sp>
      <p:sp>
        <p:nvSpPr>
          <p:cNvPr id="23" name="Text 17"/>
          <p:cNvSpPr/>
          <p:nvPr/>
        </p:nvSpPr>
        <p:spPr>
          <a:xfrm>
            <a:off x="392906" y="4460491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Manages data storage, retrieval, and ensures data integrity and security. </a:t>
            </a:r>
            <a:endParaRPr lang="en-US" sz="837" dirty="0"/>
          </a:p>
        </p:txBody>
      </p:sp>
      <p:sp>
        <p:nvSpPr>
          <p:cNvPr id="24" name="Text 18"/>
          <p:cNvSpPr/>
          <p:nvPr/>
        </p:nvSpPr>
        <p:spPr>
          <a:xfrm>
            <a:off x="392906" y="4696234"/>
            <a:ext cx="661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Components:</a:t>
            </a:r>
            <a:endParaRPr lang="en-US" sz="732" dirty="0"/>
          </a:p>
        </p:txBody>
      </p:sp>
      <p:sp>
        <p:nvSpPr>
          <p:cNvPr id="25" name="Text 19"/>
          <p:cNvSpPr/>
          <p:nvPr/>
        </p:nvSpPr>
        <p:spPr>
          <a:xfrm>
            <a:off x="1054094" y="4696234"/>
            <a:ext cx="22796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SQLite Database, Data Validation, Audit Logging </a:t>
            </a:r>
            <a:endParaRPr lang="en-US" sz="732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969666"/>
            <a:ext cx="4179094" cy="1964168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8715375" y="4803391"/>
            <a:ext cx="285750" cy="28575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0" y="5174866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 &amp; Achievements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96553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350" y="957263"/>
            <a:ext cx="160809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Performance Metrics </a:t>
            </a:r>
            <a:endParaRPr lang="en-US" sz="1238" dirty="0"/>
          </a:p>
        </p:txBody>
      </p:sp>
      <p:sp>
        <p:nvSpPr>
          <p:cNvPr id="6" name="Shape 2"/>
          <p:cNvSpPr/>
          <p:nvPr/>
        </p:nvSpPr>
        <p:spPr>
          <a:xfrm>
            <a:off x="285750" y="1300163"/>
            <a:ext cx="1742043" cy="312539"/>
          </a:xfrm>
          <a:prstGeom prst="rect">
            <a:avLst/>
          </a:prstGeom>
          <a:solidFill>
            <a:srgbClr val="0052CC">
              <a:alpha val="40000"/>
            </a:srgbClr>
          </a:solidFill>
          <a:ln w="99">
            <a:solidFill>
              <a:srgbClr val="00B8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5750" y="1300163"/>
            <a:ext cx="174204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</a:t>
            </a:r>
            <a:endParaRPr lang="en-US" sz="837" dirty="0"/>
          </a:p>
        </p:txBody>
      </p:sp>
      <p:sp>
        <p:nvSpPr>
          <p:cNvPr id="8" name="Shape 4"/>
          <p:cNvSpPr/>
          <p:nvPr/>
        </p:nvSpPr>
        <p:spPr>
          <a:xfrm>
            <a:off x="2027793" y="1300163"/>
            <a:ext cx="862971" cy="312539"/>
          </a:xfrm>
          <a:prstGeom prst="rect">
            <a:avLst/>
          </a:prstGeom>
          <a:solidFill>
            <a:srgbClr val="0052CC">
              <a:alpha val="40000"/>
            </a:srgbClr>
          </a:solidFill>
          <a:ln w="99">
            <a:solidFill>
              <a:srgbClr val="00B8D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27793" y="1300163"/>
            <a:ext cx="862971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2890763" y="1300163"/>
            <a:ext cx="864003" cy="312539"/>
          </a:xfrm>
          <a:prstGeom prst="rect">
            <a:avLst/>
          </a:prstGeom>
          <a:solidFill>
            <a:srgbClr val="0052CC">
              <a:alpha val="40000"/>
            </a:srgbClr>
          </a:solidFill>
          <a:ln w="99">
            <a:solidFill>
              <a:srgbClr val="00B8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90763" y="1300163"/>
            <a:ext cx="86400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Achieved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3754766" y="1300163"/>
            <a:ext cx="710078" cy="312539"/>
          </a:xfrm>
          <a:prstGeom prst="rect">
            <a:avLst/>
          </a:prstGeom>
          <a:solidFill>
            <a:srgbClr val="0052CC">
              <a:alpha val="40000"/>
            </a:srgbClr>
          </a:solidFill>
          <a:ln w="99">
            <a:solidFill>
              <a:srgbClr val="00B8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754766" y="1300163"/>
            <a:ext cx="710078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</a:t>
            </a:r>
            <a:endParaRPr lang="en-US" sz="837" dirty="0"/>
          </a:p>
        </p:txBody>
      </p:sp>
      <p:sp>
        <p:nvSpPr>
          <p:cNvPr id="14" name="Text 10"/>
          <p:cNvSpPr/>
          <p:nvPr/>
        </p:nvSpPr>
        <p:spPr>
          <a:xfrm>
            <a:off x="285750" y="1598414"/>
            <a:ext cx="1742043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Load Time</a:t>
            </a:r>
            <a:endParaRPr lang="en-US" sz="837" dirty="0"/>
          </a:p>
        </p:txBody>
      </p:sp>
      <p:sp>
        <p:nvSpPr>
          <p:cNvPr id="15" name="Text 11"/>
          <p:cNvSpPr/>
          <p:nvPr/>
        </p:nvSpPr>
        <p:spPr>
          <a:xfrm>
            <a:off x="2027793" y="1598414"/>
            <a:ext cx="86297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 2 seconds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2890763" y="1598414"/>
            <a:ext cx="864003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1.3 seconds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3754766" y="1598414"/>
            <a:ext cx="710078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Passed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285750" y="1912739"/>
            <a:ext cx="1742043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Database Query Response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2027793" y="1912739"/>
            <a:ext cx="86297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 500ms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2890763" y="1912739"/>
            <a:ext cx="864003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245ms</a:t>
            </a:r>
            <a:endParaRPr lang="en-US" sz="837" dirty="0"/>
          </a:p>
        </p:txBody>
      </p:sp>
      <p:sp>
        <p:nvSpPr>
          <p:cNvPr id="21" name="Text 17"/>
          <p:cNvSpPr/>
          <p:nvPr/>
        </p:nvSpPr>
        <p:spPr>
          <a:xfrm>
            <a:off x="3754766" y="1912739"/>
            <a:ext cx="710078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Passed</a:t>
            </a:r>
            <a:endParaRPr lang="en-US" sz="837" dirty="0"/>
          </a:p>
        </p:txBody>
      </p:sp>
      <p:sp>
        <p:nvSpPr>
          <p:cNvPr id="22" name="Text 18"/>
          <p:cNvSpPr/>
          <p:nvPr/>
        </p:nvSpPr>
        <p:spPr>
          <a:xfrm>
            <a:off x="285750" y="2227064"/>
            <a:ext cx="1742043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Concurrent Users</a:t>
            </a:r>
            <a:endParaRPr lang="en-US" sz="837" dirty="0"/>
          </a:p>
        </p:txBody>
      </p:sp>
      <p:sp>
        <p:nvSpPr>
          <p:cNvPr id="23" name="Text 19"/>
          <p:cNvSpPr/>
          <p:nvPr/>
        </p:nvSpPr>
        <p:spPr>
          <a:xfrm>
            <a:off x="2027793" y="2227064"/>
            <a:ext cx="86297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50+</a:t>
            </a:r>
            <a:endParaRPr lang="en-US" sz="837" dirty="0"/>
          </a:p>
        </p:txBody>
      </p:sp>
      <p:sp>
        <p:nvSpPr>
          <p:cNvPr id="24" name="Text 20"/>
          <p:cNvSpPr/>
          <p:nvPr/>
        </p:nvSpPr>
        <p:spPr>
          <a:xfrm>
            <a:off x="2890763" y="2227064"/>
            <a:ext cx="864003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75+</a:t>
            </a:r>
            <a:endParaRPr lang="en-US" sz="837" dirty="0"/>
          </a:p>
        </p:txBody>
      </p:sp>
      <p:sp>
        <p:nvSpPr>
          <p:cNvPr id="25" name="Text 21"/>
          <p:cNvSpPr/>
          <p:nvPr/>
        </p:nvSpPr>
        <p:spPr>
          <a:xfrm>
            <a:off x="3754766" y="2227064"/>
            <a:ext cx="710078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Passed</a:t>
            </a:r>
            <a:endParaRPr lang="en-US" sz="837" dirty="0"/>
          </a:p>
        </p:txBody>
      </p:sp>
      <p:sp>
        <p:nvSpPr>
          <p:cNvPr id="26" name="Text 22"/>
          <p:cNvSpPr/>
          <p:nvPr/>
        </p:nvSpPr>
        <p:spPr>
          <a:xfrm>
            <a:off x="285750" y="2541389"/>
            <a:ext cx="1742043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 Usage</a:t>
            </a:r>
            <a:endParaRPr lang="en-US" sz="837" dirty="0"/>
          </a:p>
        </p:txBody>
      </p:sp>
      <p:sp>
        <p:nvSpPr>
          <p:cNvPr id="27" name="Text 23"/>
          <p:cNvSpPr/>
          <p:nvPr/>
        </p:nvSpPr>
        <p:spPr>
          <a:xfrm>
            <a:off x="2027793" y="2541389"/>
            <a:ext cx="862971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 512MB</a:t>
            </a:r>
            <a:endParaRPr lang="en-US" sz="837" dirty="0"/>
          </a:p>
        </p:txBody>
      </p:sp>
      <p:sp>
        <p:nvSpPr>
          <p:cNvPr id="28" name="Text 24"/>
          <p:cNvSpPr/>
          <p:nvPr/>
        </p:nvSpPr>
        <p:spPr>
          <a:xfrm>
            <a:off x="2890763" y="2541389"/>
            <a:ext cx="864003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387MB</a:t>
            </a:r>
            <a:endParaRPr lang="en-US" sz="837" dirty="0"/>
          </a:p>
        </p:txBody>
      </p:sp>
      <p:sp>
        <p:nvSpPr>
          <p:cNvPr id="29" name="Text 25"/>
          <p:cNvSpPr/>
          <p:nvPr/>
        </p:nvSpPr>
        <p:spPr>
          <a:xfrm>
            <a:off x="3754766" y="2541389"/>
            <a:ext cx="710078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Passed</a:t>
            </a:r>
            <a:endParaRPr lang="en-US" sz="837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066455"/>
            <a:ext cx="196453" cy="15716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53641" y="3027164"/>
            <a:ext cx="19494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Educational Effectiveness </a:t>
            </a:r>
            <a:endParaRPr lang="en-US" sz="1238" dirty="0"/>
          </a:p>
        </p:txBody>
      </p:sp>
      <p:sp>
        <p:nvSpPr>
          <p:cNvPr id="32" name="Shape 27"/>
          <p:cNvSpPr/>
          <p:nvPr/>
        </p:nvSpPr>
        <p:spPr>
          <a:xfrm>
            <a:off x="285750" y="3370064"/>
            <a:ext cx="1321594" cy="835819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285750" y="4177308"/>
            <a:ext cx="1321594" cy="2857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34" name="Text 29"/>
          <p:cNvSpPr/>
          <p:nvPr/>
        </p:nvSpPr>
        <p:spPr>
          <a:xfrm>
            <a:off x="392906" y="3477220"/>
            <a:ext cx="11072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+40.3%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392906" y="3770114"/>
            <a:ext cx="11072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Improvement</a:t>
            </a:r>
            <a:endParaRPr lang="en-US" sz="732" dirty="0"/>
          </a:p>
        </p:txBody>
      </p:sp>
      <p:sp>
        <p:nvSpPr>
          <p:cNvPr id="36" name="Shape 31"/>
          <p:cNvSpPr/>
          <p:nvPr/>
        </p:nvSpPr>
        <p:spPr>
          <a:xfrm>
            <a:off x="1714500" y="3370064"/>
            <a:ext cx="1321594" cy="807244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1714500" y="4148733"/>
            <a:ext cx="1321594" cy="2857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38" name="Text 33"/>
          <p:cNvSpPr/>
          <p:nvPr/>
        </p:nvSpPr>
        <p:spPr>
          <a:xfrm>
            <a:off x="1821656" y="3477220"/>
            <a:ext cx="11072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+113.2%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1821656" y="3770114"/>
            <a:ext cx="11072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Confidence</a:t>
            </a:r>
            <a:endParaRPr lang="en-US" sz="732" dirty="0"/>
          </a:p>
        </p:txBody>
      </p:sp>
      <p:sp>
        <p:nvSpPr>
          <p:cNvPr id="40" name="Shape 35"/>
          <p:cNvSpPr/>
          <p:nvPr/>
        </p:nvSpPr>
        <p:spPr>
          <a:xfrm>
            <a:off x="3143250" y="3370064"/>
            <a:ext cx="1321594" cy="807244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3143250" y="4148733"/>
            <a:ext cx="1321594" cy="28575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42" name="Text 37"/>
          <p:cNvSpPr/>
          <p:nvPr/>
        </p:nvSpPr>
        <p:spPr>
          <a:xfrm>
            <a:off x="3250406" y="3477220"/>
            <a:ext cx="11072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+117.1%</a:t>
            </a:r>
            <a:endParaRPr lang="en-US" sz="1350" dirty="0"/>
          </a:p>
        </p:txBody>
      </p:sp>
      <p:sp>
        <p:nvSpPr>
          <p:cNvPr id="43" name="Text 38"/>
          <p:cNvSpPr/>
          <p:nvPr/>
        </p:nvSpPr>
        <p:spPr>
          <a:xfrm>
            <a:off x="3250406" y="3770114"/>
            <a:ext cx="11072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 Understanding</a:t>
            </a:r>
            <a:endParaRPr lang="en-US" sz="732" dirty="0"/>
          </a:p>
        </p:txBody>
      </p:sp>
      <p:sp>
        <p:nvSpPr>
          <p:cNvPr id="44" name="Text 39"/>
          <p:cNvSpPr/>
          <p:nvPr/>
        </p:nvSpPr>
        <p:spPr>
          <a:xfrm>
            <a:off x="4679156" y="957263"/>
            <a:ext cx="4179094" cy="390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837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715375" y="4714875"/>
            <a:ext cx="285750" cy="285750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73336"/>
            <a:ext cx="2854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571221" y="973336"/>
            <a:ext cx="4463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SOCify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1017566" y="973336"/>
            <a:ext cx="31695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platform successfully bridges the gap between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85750" y="1201936"/>
            <a:ext cx="33274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theoretical knowledge and practical application in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1430536"/>
            <a:ext cx="34975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cybersecurity education, providing a comprehensive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1659136"/>
            <a:ext cx="36854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simulation environment for Security Operations Center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85750" y="1887736"/>
            <a:ext cx="5643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training.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2278856"/>
            <a:ext cx="41790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Through its interactive features, multi-role user management, and realistic attack simulations, SOCify offers students and professionals the opportunity to develop practical skills in a safe, controlled environment. </a:t>
            </a:r>
            <a:endParaRPr lang="en-US" sz="1046" dirty="0"/>
          </a:p>
        </p:txBody>
      </p:sp>
      <p:sp>
        <p:nvSpPr>
          <p:cNvPr id="12" name="Shape 9"/>
          <p:cNvSpPr/>
          <p:nvPr/>
        </p:nvSpPr>
        <p:spPr>
          <a:xfrm>
            <a:off x="285750" y="3371850"/>
            <a:ext cx="4179094" cy="2000250"/>
          </a:xfrm>
          <a:prstGeom prst="rect">
            <a:avLst/>
          </a:prstGeom>
          <a:solidFill>
            <a:srgbClr val="0052C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3371850"/>
            <a:ext cx="28575" cy="2000250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3514725"/>
            <a:ext cx="38933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8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Contributions</a:t>
            </a:r>
            <a:endParaRPr lang="en-US" sz="1238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893344"/>
            <a:ext cx="128588" cy="128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8650" y="3857625"/>
            <a:ext cx="36933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practical cybersecurity education through hands-on simulation</a:t>
            </a:r>
            <a:endParaRPr lang="en-US" sz="942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350544"/>
            <a:ext cx="128588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650" y="4314825"/>
            <a:ext cx="36933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Demonstrated significant improvement in student skills and confidence</a:t>
            </a:r>
            <a:endParaRPr lang="en-US" sz="942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807744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8650" y="4772025"/>
            <a:ext cx="36933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Created a scalable platform that can be extended for future cybersecurity training needs</a:t>
            </a:r>
            <a:endParaRPr lang="en-US" sz="942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141" y="1789509"/>
            <a:ext cx="2143125" cy="2143125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813" y="4321969"/>
            <a:ext cx="128588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384838" y="4289822"/>
            <a:ext cx="96775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Bisha University </a:t>
            </a:r>
            <a:endParaRPr lang="en-US" sz="94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8003149" y="4714875"/>
            <a:ext cx="997976" cy="28575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00B8D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2025-09-22T19:27:09Z</dcterms:created>
  <dcterms:modified xsi:type="dcterms:W3CDTF">2025-09-22T19:27:09Z</dcterms:modified>
</cp:coreProperties>
</file>